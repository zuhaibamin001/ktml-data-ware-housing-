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8922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135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2860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KTML Inventory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5528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 pipeline, Power BI dashboard, and a live-connected Excel workbook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95528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to consumption, layer by layer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3A465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737360" cy="3886200"/>
          </a:xfrm>
          <a:prstGeom prst="roundRect">
            <a:avLst>
              <a:gd name="adj" fmla="val 3158"/>
            </a:avLst>
          </a:prstGeom>
          <a:solidFill>
            <a:srgbClr val="1A2333"/>
          </a:solidFill>
          <a:ln w="12700">
            <a:solidFill>
              <a:srgbClr val="3A46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17373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C97A4A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7373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23160" y="2286000"/>
            <a:ext cx="2286000" cy="3886200"/>
          </a:xfrm>
          <a:prstGeom prst="roundRect">
            <a:avLst>
              <a:gd name="adj" fmla="val 2400"/>
            </a:avLst>
          </a:prstGeom>
          <a:solidFill>
            <a:srgbClr val="1A2333"/>
          </a:solidFill>
          <a:ln w="12700">
            <a:solidFill>
              <a:srgbClr val="C97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7373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8C93A0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7373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92040" y="2286000"/>
            <a:ext cx="2286000" cy="3886200"/>
          </a:xfrm>
          <a:prstGeom prst="roundRect">
            <a:avLst>
              <a:gd name="adj" fmla="val 2400"/>
            </a:avLst>
          </a:prstGeom>
          <a:solidFill>
            <a:srgbClr val="1A2333"/>
          </a:solidFill>
          <a:ln w="12700">
            <a:solidFill>
              <a:srgbClr val="8C93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60920" y="17373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D4A6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17373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60920" y="2286000"/>
            <a:ext cx="2286000" cy="3886200"/>
          </a:xfrm>
          <a:prstGeom prst="roundRect">
            <a:avLst>
              <a:gd name="adj" fmla="val 2400"/>
            </a:avLst>
          </a:prstGeom>
          <a:solidFill>
            <a:srgbClr val="1A2333"/>
          </a:solidFill>
          <a:ln w="12700">
            <a:solidFill>
              <a:srgbClr val="D4A6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21240" y="173736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3E7CB1"/>
          </a:solidFill>
          <a:ln/>
        </p:spPr>
      </p:sp>
      <p:sp>
        <p:nvSpPr>
          <p:cNvPr id="18" name="Text 16"/>
          <p:cNvSpPr/>
          <p:nvPr/>
        </p:nvSpPr>
        <p:spPr>
          <a:xfrm>
            <a:off x="9921240" y="17373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921240" y="2286000"/>
            <a:ext cx="1783080" cy="3886200"/>
          </a:xfrm>
          <a:prstGeom prst="roundRect">
            <a:avLst>
              <a:gd name="adj" fmla="val 3077"/>
            </a:avLst>
          </a:prstGeom>
          <a:solidFill>
            <a:srgbClr val="1A2333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4560" y="1837944"/>
            <a:ext cx="228600" cy="146304"/>
          </a:xfrm>
          <a:prstGeom prst="rightArrow">
            <a:avLst/>
          </a:prstGeom>
          <a:solidFill>
            <a:srgbClr val="9AA4B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1837944"/>
            <a:ext cx="182880" cy="146304"/>
          </a:xfrm>
          <a:prstGeom prst="rightArrow">
            <a:avLst/>
          </a:prstGeom>
          <a:solidFill>
            <a:srgbClr val="9AA4B2"/>
          </a:solidFill>
          <a:ln/>
        </p:spPr>
      </p:sp>
      <p:sp>
        <p:nvSpPr>
          <p:cNvPr id="22" name="Shape 20"/>
          <p:cNvSpPr/>
          <p:nvPr/>
        </p:nvSpPr>
        <p:spPr>
          <a:xfrm>
            <a:off x="7178040" y="1837944"/>
            <a:ext cx="182880" cy="146304"/>
          </a:xfrm>
          <a:prstGeom prst="rightArrow">
            <a:avLst/>
          </a:prstGeom>
          <a:solidFill>
            <a:srgbClr val="9AA4B2"/>
          </a:solidFill>
          <a:ln/>
        </p:spPr>
      </p:sp>
      <p:sp>
        <p:nvSpPr>
          <p:cNvPr id="23" name="Shape 21"/>
          <p:cNvSpPr/>
          <p:nvPr/>
        </p:nvSpPr>
        <p:spPr>
          <a:xfrm>
            <a:off x="9646920" y="1837944"/>
            <a:ext cx="274320" cy="146304"/>
          </a:xfrm>
          <a:prstGeom prst="rightArrow">
            <a:avLst/>
          </a:prstGeom>
          <a:solidFill>
            <a:srgbClr val="9AA4B2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560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Flat-file exports loaded via batch job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87752" y="256032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Type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87752" y="2816352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87752" y="3182112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87752" y="343814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load / truncate &amp; insert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87752" y="4005072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87752" y="4261104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56632" y="256032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Type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56632" y="2816352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56632" y="3182112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56632" y="343814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load / truncate &amp; insert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56632" y="4005072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56632" y="4261104"/>
            <a:ext cx="1956816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cleansing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&amp; normalization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columns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enrichment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25512" y="256032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Type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25512" y="2816352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25512" y="3182112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25512" y="3438144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525512" y="380390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525512" y="4059936"/>
            <a:ext cx="19568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525512" y="4828032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25512" y="5084064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/ flat &amp; aggregated tables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58400" y="26060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BI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058400" y="290779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58400" y="3520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058400" y="382219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analysis via SSMS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KTML Inventory Data Warehouse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 Views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aggregated views power every downstream report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3796" y="169164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1A2333"/>
          </a:solidFill>
          <a:ln w="15875">
            <a:solidFill>
              <a:srgbClr val="D4A6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" y="1993392"/>
            <a:ext cx="365760" cy="365760"/>
          </a:xfrm>
          <a:prstGeom prst="ellipse">
            <a:avLst/>
          </a:prstGeom>
          <a:solidFill>
            <a:srgbClr val="D4A63A"/>
          </a:solidFill>
          <a:ln/>
        </p:spPr>
      </p:sp>
      <p:sp>
        <p:nvSpPr>
          <p:cNvPr id="7" name="Text 5"/>
          <p:cNvSpPr/>
          <p:nvPr/>
        </p:nvSpPr>
        <p:spPr>
          <a:xfrm>
            <a:off x="1476756" y="19202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gold.hand_inventory_summary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9556" y="25146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on hand, grouped by item and warehouse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9556" y="3154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4A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0996" y="347472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item_name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total_quantity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variant_count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23076" y="169164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1A2333"/>
          </a:solidFill>
          <a:ln w="15875">
            <a:solidFill>
              <a:srgbClr val="3E7CB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43116" y="1993392"/>
            <a:ext cx="365760" cy="36576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3" name="Text 11"/>
          <p:cNvSpPr/>
          <p:nvPr/>
        </p:nvSpPr>
        <p:spPr>
          <a:xfrm>
            <a:off x="7146036" y="19202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gold.inventory_aging_summary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88836" y="25146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buckets showing how long stock has been sitting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88836" y="3154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80276" y="347472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item_number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product_name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aging_percentage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p1_quantity … p5_quantity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total_aged_quantity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KTML Inventory Data Warehouse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top of the gold layer of KTML_InventoryDW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3796" y="169164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1A2333"/>
          </a:solidFill>
          <a:ln w="15875">
            <a:solidFill>
              <a:srgbClr val="D4A6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" y="20116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4A63A"/>
          </a:solidFill>
          <a:ln/>
        </p:spPr>
      </p:sp>
      <p:sp>
        <p:nvSpPr>
          <p:cNvPr id="7" name="Text 5"/>
          <p:cNvSpPr/>
          <p:nvPr/>
        </p:nvSpPr>
        <p:spPr>
          <a:xfrm>
            <a:off x="1796796" y="2011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5276" y="2926080"/>
            <a:ext cx="43891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by warehouse (clustered bar)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by item, top items ranked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Item-wise P1–P5 aging breakdown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warehouse and item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% summary card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3076" y="169164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1A2333"/>
          </a:solidFill>
          <a:ln w="15875">
            <a:solidFill>
              <a:srgbClr val="3E7C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43116" y="20116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3E7CB1"/>
          </a:solidFill>
          <a:ln/>
        </p:spPr>
      </p:sp>
      <p:sp>
        <p:nvSpPr>
          <p:cNvPr id="11" name="Text 9"/>
          <p:cNvSpPr/>
          <p:nvPr/>
        </p:nvSpPr>
        <p:spPr>
          <a:xfrm>
            <a:off x="7466076" y="2011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34556" y="2926080"/>
            <a:ext cx="43891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connection to KTML_InventoryDW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gold.hand_inventory_summary table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gold.inventory_aging_summary table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Refreshable via Data → Refresh All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PivotTable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KTML Inventory Data Warehouse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8C5CA62-C6D2-4A83-BFC9-C353549A5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70" y="1408377"/>
            <a:ext cx="6435247" cy="377758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8F5FCD3-78FF-459F-8170-5510E106C143}"/>
              </a:ext>
            </a:extLst>
          </p:cNvPr>
          <p:cNvSpPr txBox="1"/>
          <p:nvPr/>
        </p:nvSpPr>
        <p:spPr>
          <a:xfrm>
            <a:off x="286305" y="92060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EAECEF"/>
                </a:solidFill>
                <a:latin typeface="Calibri" pitchFamily="34" charset="0"/>
                <a:cs typeface="Calibri" pitchFamily="34" charset="-120"/>
              </a:rPr>
              <a:t>POWER-BI Dashboard</a:t>
            </a:r>
            <a:endParaRPr lang="en-US" sz="1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75F00C-5A2D-42F3-A253-92AE37CBD5A1}"/>
              </a:ext>
            </a:extLst>
          </p:cNvPr>
          <p:cNvSpPr txBox="1"/>
          <p:nvPr/>
        </p:nvSpPr>
        <p:spPr>
          <a:xfrm>
            <a:off x="205250" y="5264458"/>
            <a:ext cx="6094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four-panel view of hand inventory, showing stock concentration by warehouse, top items by quantity, item-wise P1–P5 aging distribution, and total aged stock by product — giving a complete picture of where inventory sits and how long it's been aging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68F5FCD3-78FF-459F-8170-5510E106C143}"/>
              </a:ext>
            </a:extLst>
          </p:cNvPr>
          <p:cNvSpPr txBox="1"/>
          <p:nvPr/>
        </p:nvSpPr>
        <p:spPr>
          <a:xfrm>
            <a:off x="286305" y="92060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AECEF"/>
                </a:solidFill>
                <a:latin typeface="Calibri" pitchFamily="34" charset="0"/>
                <a:cs typeface="Calibri" pitchFamily="34" charset="-120"/>
              </a:rPr>
              <a:t>EXCEL FI</a:t>
            </a:r>
            <a:r>
              <a:rPr lang="en-US" b="1" dirty="0">
                <a:solidFill>
                  <a:srgbClr val="EAECEF"/>
                </a:solidFill>
                <a:latin typeface="Calibri" pitchFamily="34" charset="0"/>
                <a:cs typeface="Calibri" pitchFamily="34" charset="-120"/>
              </a:rPr>
              <a:t>LE</a:t>
            </a:r>
            <a:endParaRPr lang="en-US" sz="1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75F00C-5A2D-42F3-A253-92AE37CBD5A1}"/>
              </a:ext>
            </a:extLst>
          </p:cNvPr>
          <p:cNvSpPr txBox="1"/>
          <p:nvPr/>
        </p:nvSpPr>
        <p:spPr>
          <a:xfrm>
            <a:off x="205250" y="5264458"/>
            <a:ext cx="6094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 live-connected Excel workbook pulling </a:t>
            </a:r>
            <a:r>
              <a:rPr lang="en-US" dirty="0" err="1">
                <a:highlight>
                  <a:srgbClr val="C0C0C0"/>
                </a:highlight>
              </a:rPr>
              <a:t>gold.hand_inventory_summary</a:t>
            </a:r>
            <a:r>
              <a:rPr lang="en-US" dirty="0">
                <a:highlight>
                  <a:srgbClr val="C0C0C0"/>
                </a:highlight>
              </a:rPr>
              <a:t> and </a:t>
            </a:r>
            <a:r>
              <a:rPr lang="en-US" dirty="0" err="1">
                <a:highlight>
                  <a:srgbClr val="C0C0C0"/>
                </a:highlight>
              </a:rPr>
              <a:t>gold.inventory_aging_summary</a:t>
            </a:r>
            <a:r>
              <a:rPr lang="en-US" dirty="0">
                <a:highlight>
                  <a:srgbClr val="C0C0C0"/>
                </a:highlight>
              </a:rPr>
              <a:t> directly from </a:t>
            </a:r>
            <a:r>
              <a:rPr lang="en-US" dirty="0" err="1">
                <a:highlight>
                  <a:srgbClr val="C0C0C0"/>
                </a:highlight>
              </a:rPr>
              <a:t>KTML_InventoryDW</a:t>
            </a:r>
            <a:r>
              <a:rPr lang="en-US" dirty="0">
                <a:highlight>
                  <a:srgbClr val="C0C0C0"/>
                </a:highlight>
              </a:rPr>
              <a:t>, refreshable on demand for ad-hoc analysis.</a:t>
            </a:r>
            <a:endParaRPr lang="en-US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05F9BE-4057-4EBD-ADF0-C50CE796B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53" y="1443528"/>
            <a:ext cx="5633407" cy="382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7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374</Words>
  <Application>Microsoft Office PowerPoint</Application>
  <PresentationFormat>Widescreen</PresentationFormat>
  <Paragraphs>95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</cp:revision>
  <dcterms:created xsi:type="dcterms:W3CDTF">2026-08-25T08:25:22Z</dcterms:created>
  <dcterms:modified xsi:type="dcterms:W3CDTF">2026-08-25T08:31:43Z</dcterms:modified>
</cp:coreProperties>
</file>